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85760" y="-1097280"/>
            <a:ext cx="5120640" cy="5120640"/>
          </a:xfrm>
          <a:prstGeom prst="ellipse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25840" y="822960"/>
            <a:ext cx="329184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 b="0">
                <a:solidFill>
                  <a:srgbClr val="FFFFFF"/>
                </a:solidFill>
                <a:latin typeface="Arial"/>
              </a:rP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67700"/>
                </a:solidFill>
                <a:latin typeface="Arial"/>
              </a:rPr>
              <a:t>КОМАНДА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6675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>
                <a:solidFill>
                  <a:srgbClr val="FFFFFF"/>
                </a:solidFill>
                <a:latin typeface="Arial"/>
              </a:rPr>
              <a:t>Глеб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C9CEF5"/>
                </a:solidFill>
                <a:latin typeface="Arial"/>
              </a:rPr>
              <a:t>Бот-бизнесмен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Участники: </a:t>
            </a:r>
            <a:r>
              <a:rPr sz="1800" b="0">
                <a:solidFill>
                  <a:srgbClr val="C9CEF5"/>
                </a:solidFill>
                <a:latin typeface="Arial"/>
              </a:rPr>
              <a:t>Ученик 10, Ученик 11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400" b="0">
                <a:solidFill>
                  <a:srgbClr val="5B618A"/>
                </a:solidFill>
                <a:latin typeface="Arial"/>
              </a:rPr>
              <a:t>Курс «Создание чат-ботов и ИИ-агентов» · проект 6 занятия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67700"/>
                </a:solidFill>
                <a:latin typeface="Arial"/>
              </a:rPr>
              <a:t>ИДЕЯ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2163A"/>
                </a:solidFill>
                <a:latin typeface="Arial"/>
              </a:rPr>
              <a:t>Глеб — жёсткий инвестор в телефоне: проверит идею, даст пинок и заставит действовать по схеме «Факт — Вопрос — Пинок».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2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14600"/>
            <a:ext cx="49377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743200"/>
            <a:ext cx="64008" cy="265176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43891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E67700"/>
                </a:solidFill>
                <a:latin typeface="Arial"/>
              </a:rPr>
              <a:t>Характер бота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400" b="0">
                <a:solidFill>
                  <a:srgbClr val="12163A"/>
                </a:solidFill>
                <a:latin typeface="Arial"/>
              </a:rPr>
              <a:t>Глеб — это не друг, не коуч и не психолог. Это требовательный инвестор, который застрял в твоём телефоне. Он экономит твоё время, отсекая всю «воду», эмоции и оправдания. Его речь — это инструмент давления. Ритм: «Факт — Вопрос — Пинок». Каждое сообщение строится по этой схеме. Он не даёт пользователю опомниться или уйти в философию.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514600"/>
            <a:ext cx="55626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2743200"/>
            <a:ext cx="64008" cy="265176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788920"/>
            <a:ext cx="50139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E67700"/>
                </a:solidFill>
                <a:latin typeface="Arial"/>
              </a:rPr>
              <a:t>Кто что сделал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800" b="1">
                <a:solidFill>
                  <a:srgbClr val="12163A"/>
                </a:solidFill>
                <a:latin typeface="Arial"/>
              </a:rPr>
              <a:t>Ученик 10 — </a:t>
            </a:r>
            <a:r>
              <a:rPr sz="1800" b="0">
                <a:solidFill>
                  <a:srgbClr val="12163A"/>
                </a:solidFill>
                <a:latin typeface="Arial"/>
              </a:rPr>
              <a:t>Пинки от инвестора и бизнес-советы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800" b="1">
                <a:solidFill>
                  <a:srgbClr val="12163A"/>
                </a:solidFill>
                <a:latin typeface="Arial"/>
              </a:rPr>
              <a:t>Ученик 11 — </a:t>
            </a:r>
            <a:r>
              <a:rPr sz="1800" b="0">
                <a:solidFill>
                  <a:srgbClr val="12163A"/>
                </a:solidFill>
                <a:latin typeface="Arial"/>
              </a:rPr>
              <a:t>Совет дня (/sovet) и проверка идеи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67700"/>
                </a:solidFill>
                <a:latin typeface="Arial"/>
              </a:rPr>
              <a:t>ИНСТРУМЕНТЫ АГЕНТА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2163A"/>
                </a:solidFill>
                <a:latin typeface="Arial"/>
              </a:rPr>
              <a:t>4 инструмента — и у каждого свой автор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3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082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64008" cy="45720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3749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E67700"/>
                </a:solidFill>
                <a:latin typeface="Consolas"/>
              </a:rPr>
              <a:t>reality_check()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691640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2163A"/>
                </a:solidFill>
                <a:latin typeface="Arial"/>
              </a:rPr>
              <a:t>Возвращает жёсткий отрезвляющий пинок от инвестора для проверки продуктивности и возврата к работе.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1691640"/>
            <a:ext cx="176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5B618A"/>
                </a:solidFill>
                <a:latin typeface="Arial"/>
              </a:rPr>
              <a:t>Ученик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15768"/>
            <a:ext cx="1082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944368"/>
            <a:ext cx="64008" cy="45720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15768"/>
            <a:ext cx="3749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E67700"/>
                </a:solidFill>
                <a:latin typeface="Consolas"/>
              </a:rPr>
              <a:t>sovet_for_biznes(topic)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715768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2163A"/>
                </a:solidFill>
                <a:latin typeface="Arial"/>
              </a:rPr>
              <a:t>Даёт жёсткий бизнес-совет по теме: продажи, деньги, команда, реклама.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715768"/>
            <a:ext cx="176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5B618A"/>
                </a:solidFill>
                <a:latin typeface="Arial"/>
              </a:rPr>
              <a:t>Ученик 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39896"/>
            <a:ext cx="1082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968496"/>
            <a:ext cx="64008" cy="45720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739896"/>
            <a:ext cx="3749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E67700"/>
                </a:solidFill>
                <a:latin typeface="Consolas"/>
              </a:rPr>
              <a:t>wake_up_call()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739896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2163A"/>
                </a:solidFill>
                <a:latin typeface="Arial"/>
              </a:rPr>
              <a:t>Выдаёт жёсткую отрезвляющую установку для стартапера, чтобы сломать иллюзии и заставить действовать (совет дня).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739896"/>
            <a:ext cx="176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5B618A"/>
                </a:solidFill>
                <a:latin typeface="Arial"/>
              </a:rPr>
              <a:t>Ученик 11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764024"/>
            <a:ext cx="1082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992624"/>
            <a:ext cx="64008" cy="45720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764024"/>
            <a:ext cx="3749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E67700"/>
                </a:solidFill>
                <a:latin typeface="Consolas"/>
              </a:rPr>
              <a:t>check_idea(idea)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764024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2163A"/>
                </a:solidFill>
                <a:latin typeface="Arial"/>
              </a:rPr>
              <a:t>Жёстко проверяет бизнес-идею пользователя и говорит, что делать дальше.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4764024"/>
            <a:ext cx="176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5B618A"/>
                </a:solidFill>
                <a:latin typeface="Arial"/>
              </a:rPr>
              <a:t>Ученик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67700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2163A"/>
                </a:solidFill>
                <a:latin typeface="Arial"/>
              </a:rPr>
              <a:t>Пример разговора с ботом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4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9116" y="1737360"/>
            <a:ext cx="3741724" cy="457200"/>
          </a:xfrm>
          <a:prstGeom prst="round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61996" y="1737360"/>
            <a:ext cx="33759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Хочу открыть кофейню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🔧 вызов инструмента: </a:t>
            </a:r>
            <a:r>
              <a:rPr sz="1200" b="1">
                <a:solidFill>
                  <a:srgbClr val="5B618A"/>
                </a:solidFill>
                <a:latin typeface="Consolas"/>
              </a:rPr>
              <a:t>check_idea(открыть кофейню)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5129784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46725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Факт: «кофейня» — это пока слово. Кто твой клиент и почему он придёт к тебе? Опиши за 1 предложение. Сейчас.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9116" y="3566160"/>
            <a:ext cx="3741724" cy="457200"/>
          </a:xfrm>
          <a:prstGeom prst="round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1996" y="3566160"/>
            <a:ext cx="33759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Дай совет по продажам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🔧 вызов инструмента: </a:t>
            </a:r>
            <a:r>
              <a:rPr sz="1200" b="1">
                <a:solidFill>
                  <a:srgbClr val="5B618A"/>
                </a:solidFill>
                <a:latin typeface="Consolas"/>
              </a:rPr>
              <a:t>sovet_for_biznes(продажи)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129784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46725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80% сделок — после 5-го контакта. Сколько раз ты написал клиенту? Пиши шестой. Сегодня.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9496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18A"/>
                </a:solidFill>
                <a:latin typeface="Arial"/>
              </a:rPr>
              <a:t>Ответы бота в примере условные: каждый раз нейросеть формулирует по-своему, а данные берёт из инструментов.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1737360"/>
            <a:ext cx="441960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86600" y="1965960"/>
            <a:ext cx="64008" cy="338328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965960"/>
            <a:ext cx="38709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E67700"/>
                </a:solidFill>
                <a:latin typeface="Arial"/>
              </a:rPr>
              <a:t>Что доделали после занятия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500" b="1">
                <a:solidFill>
                  <a:srgbClr val="12163A"/>
                </a:solidFill>
                <a:latin typeface="Arial"/>
              </a:rPr>
              <a:t>Ученик 10: </a:t>
            </a:r>
            <a:r>
              <a:rPr sz="1500" b="0">
                <a:solidFill>
                  <a:srgbClr val="12163A"/>
                </a:solidFill>
                <a:latin typeface="Arial"/>
              </a:rPr>
              <a:t>Два инструмента с одним именем reality_check — второй переименован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500" b="1">
                <a:solidFill>
                  <a:srgbClr val="12163A"/>
                </a:solidFill>
                <a:latin typeface="Arial"/>
              </a:rPr>
              <a:t>Ученик 11: </a:t>
            </a:r>
            <a:r>
              <a:rPr sz="1500" b="0">
                <a:solidFill>
                  <a:srgbClr val="12163A"/>
                </a:solidFill>
                <a:latin typeface="Arial"/>
              </a:rPr>
              <a:t>random.choice(tips), но списка tips не было (был пустой start)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200" b="0">
                <a:solidFill>
                  <a:srgbClr val="5B618A"/>
                </a:solidFill>
                <a:latin typeface="Arial"/>
              </a:rPr>
              <a:t>Всего исправлений: 4. Подробно — в ИСПРАВЛЕНИЯ.md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300" b="1">
                <a:solidFill>
                  <a:srgbClr val="12163A"/>
                </a:solidFill>
                <a:latin typeface="Arial"/>
              </a:rPr>
              <a:t>Запуск: </a:t>
            </a:r>
            <a:r>
              <a:rPr sz="1300" b="0">
                <a:solidFill>
                  <a:srgbClr val="12163A"/>
                </a:solidFill>
                <a:latin typeface="Consolas"/>
              </a:rPr>
              <a:t>python3 Наш_бот.py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