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21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2000" cy="320040"/>
          </a:xfrm>
          <a:prstGeom prst="rect">
            <a:avLst/>
          </a:prstGeom>
          <a:solidFill>
            <a:srgbClr val="2F9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985760" y="-1097280"/>
            <a:ext cx="5120640" cy="5120640"/>
          </a:xfrm>
          <a:prstGeom prst="ellipse">
            <a:avLst/>
          </a:prstGeom>
          <a:solidFill>
            <a:srgbClr val="2F9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25840" y="822960"/>
            <a:ext cx="3291840" cy="1828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0" b="0">
                <a:solidFill>
                  <a:srgbClr val="FFFFFF"/>
                </a:solidFill>
                <a:latin typeface="Arial"/>
              </a:rPr>
              <a:t>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0972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2F9E44"/>
                </a:solidFill>
                <a:latin typeface="Arial"/>
              </a:rPr>
              <a:t>КОМАНДА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66751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6000" b="1">
                <a:solidFill>
                  <a:srgbClr val="FFFFFF"/>
                </a:solidFill>
                <a:latin typeface="Arial"/>
              </a:rPr>
              <a:t>Репетитор Анна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154680"/>
            <a:ext cx="6675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0">
                <a:solidFill>
                  <a:srgbClr val="C9CEF5"/>
                </a:solidFill>
                <a:latin typeface="Arial"/>
              </a:rPr>
              <a:t>Репетитор: помогает с уроками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480560"/>
            <a:ext cx="9144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FFFFFF"/>
                </a:solidFill>
                <a:latin typeface="Arial"/>
              </a:rPr>
              <a:t>Участники: </a:t>
            </a:r>
            <a:r>
              <a:rPr sz="1800" b="0">
                <a:solidFill>
                  <a:srgbClr val="C9CEF5"/>
                </a:solidFill>
                <a:latin typeface="Arial"/>
              </a:rPr>
              <a:t>Ученик 3, Ученик 4</a:t>
            </a:r>
          </a:p>
          <a:p>
            <a:pPr algn="l">
              <a:lnSpc>
                <a:spcPct val="110000"/>
              </a:lnSpc>
              <a:spcBef>
                <a:spcPts val="800"/>
              </a:spcBef>
            </a:pPr>
            <a:r>
              <a:rPr sz="1400" b="0">
                <a:solidFill>
                  <a:srgbClr val="5B618A"/>
                </a:solidFill>
                <a:latin typeface="Arial"/>
              </a:rPr>
              <a:t>Курс «Создание чат-ботов и ИИ-агентов» · проект 6 занятия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F9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2F9E44"/>
                </a:solidFill>
                <a:latin typeface="Arial"/>
              </a:rPr>
              <a:t>ИДЕЯ ПРОЕКТА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7724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12163A"/>
                </a:solidFill>
                <a:latin typeface="Arial"/>
              </a:rPr>
              <a:t>Анна помогает с домашкой: напомнит правило по предмету, переведёт слово, даст совет и похвалит.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400" y="63550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200" b="0">
                <a:solidFill>
                  <a:srgbClr val="5B618A"/>
                </a:solidFill>
                <a:latin typeface="Arial"/>
              </a:rPr>
              <a:t>2 / 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514600"/>
            <a:ext cx="4937760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743200"/>
            <a:ext cx="64008" cy="2651760"/>
          </a:xfrm>
          <a:prstGeom prst="rect">
            <a:avLst/>
          </a:prstGeom>
          <a:solidFill>
            <a:srgbClr val="2F9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788920"/>
            <a:ext cx="4389120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2F9E44"/>
                </a:solidFill>
                <a:latin typeface="Arial"/>
              </a:rPr>
              <a:t>Характер бота</a:t>
            </a:r>
          </a:p>
          <a:p>
            <a:pPr algn="l">
              <a:lnSpc>
                <a:spcPct val="110000"/>
              </a:lnSpc>
              <a:spcBef>
                <a:spcPts val="800"/>
              </a:spcBef>
            </a:pPr>
            <a:r>
              <a:rPr sz="1800" b="0">
                <a:solidFill>
                  <a:srgbClr val="12163A"/>
                </a:solidFill>
                <a:latin typeface="Arial"/>
              </a:rPr>
              <a:t>Весёлый репетитор: говорит коротко и всегда что-нибудь советует.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0" y="2514600"/>
            <a:ext cx="5562600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0" y="2743200"/>
            <a:ext cx="64008" cy="2651760"/>
          </a:xfrm>
          <a:prstGeom prst="rect">
            <a:avLst/>
          </a:prstGeom>
          <a:solidFill>
            <a:srgbClr val="2F9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2788920"/>
            <a:ext cx="5013960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2F9E44"/>
                </a:solidFill>
                <a:latin typeface="Arial"/>
              </a:rPr>
              <a:t>Кто что сделал</a:t>
            </a:r>
          </a:p>
          <a:p>
            <a:pPr algn="l">
              <a:lnSpc>
                <a:spcPct val="110000"/>
              </a:lnSpc>
              <a:spcBef>
                <a:spcPts val="800"/>
              </a:spcBef>
            </a:pPr>
            <a:r>
              <a:rPr sz="1800" b="1">
                <a:solidFill>
                  <a:srgbClr val="12163A"/>
                </a:solidFill>
                <a:latin typeface="Arial"/>
              </a:rPr>
              <a:t>Ученик 3 — </a:t>
            </a:r>
            <a:r>
              <a:rPr sz="1800" b="0">
                <a:solidFill>
                  <a:srgbClr val="12163A"/>
                </a:solidFill>
                <a:latin typeface="Arial"/>
              </a:rPr>
              <a:t>Учебные лайфхаки и переводчик</a:t>
            </a:r>
          </a:p>
          <a:p>
            <a:pPr algn="l">
              <a:lnSpc>
                <a:spcPct val="110000"/>
              </a:lnSpc>
              <a:spcBef>
                <a:spcPts val="800"/>
              </a:spcBef>
            </a:pPr>
            <a:r>
              <a:rPr sz="1800" b="1">
                <a:solidFill>
                  <a:srgbClr val="12163A"/>
                </a:solidFill>
                <a:latin typeface="Arial"/>
              </a:rPr>
              <a:t>Ученик 4 — </a:t>
            </a:r>
            <a:r>
              <a:rPr sz="1800" b="0">
                <a:solidFill>
                  <a:srgbClr val="12163A"/>
                </a:solidFill>
                <a:latin typeface="Arial"/>
              </a:rPr>
              <a:t>Похвала и школьные правила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F9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2F9E44"/>
                </a:solidFill>
                <a:latin typeface="Arial"/>
              </a:rPr>
              <a:t>ИНСТРУМЕНТЫ АГЕНТА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7724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>
                <a:solidFill>
                  <a:srgbClr val="12163A"/>
                </a:solidFill>
                <a:latin typeface="Arial"/>
              </a:rPr>
              <a:t>4 инструмента — и у каждого свой автор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400" y="63550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200" b="0">
                <a:solidFill>
                  <a:srgbClr val="5B618A"/>
                </a:solidFill>
                <a:latin typeface="Arial"/>
              </a:rPr>
              <a:t>3 / 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91640"/>
            <a:ext cx="108204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920240"/>
            <a:ext cx="64008" cy="457200"/>
          </a:xfrm>
          <a:prstGeom prst="rect">
            <a:avLst/>
          </a:prstGeom>
          <a:solidFill>
            <a:srgbClr val="2F9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91640"/>
            <a:ext cx="3749039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2F9E44"/>
                </a:solidFill>
                <a:latin typeface="Consolas"/>
              </a:rPr>
              <a:t>study_hack()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0600" y="1691640"/>
            <a:ext cx="45720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12163A"/>
                </a:solidFill>
                <a:latin typeface="Arial"/>
              </a:rPr>
              <a:t>Возвращает короткий весёлый совет для продуктивной и лёгкой учёбы.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55480" y="1691640"/>
            <a:ext cx="17678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500" b="1">
                <a:solidFill>
                  <a:srgbClr val="5B618A"/>
                </a:solidFill>
                <a:latin typeface="Arial"/>
              </a:rPr>
              <a:t>Ученик 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715768"/>
            <a:ext cx="108204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2944368"/>
            <a:ext cx="64008" cy="457200"/>
          </a:xfrm>
          <a:prstGeom prst="rect">
            <a:avLst/>
          </a:prstGeom>
          <a:solidFill>
            <a:srgbClr val="2F9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715768"/>
            <a:ext cx="3749039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2F9E44"/>
                </a:solidFill>
                <a:latin typeface="Consolas"/>
              </a:rPr>
              <a:t>translate(topik)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2715768"/>
            <a:ext cx="45720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12163A"/>
                </a:solidFill>
                <a:latin typeface="Arial"/>
              </a:rPr>
              <a:t>Переводит слово или фразу с русского на английский.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55480" y="2715768"/>
            <a:ext cx="17678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500" b="1">
                <a:solidFill>
                  <a:srgbClr val="5B618A"/>
                </a:solidFill>
                <a:latin typeface="Arial"/>
              </a:rPr>
              <a:t>Ученик 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739896"/>
            <a:ext cx="108204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3968496"/>
            <a:ext cx="64008" cy="457200"/>
          </a:xfrm>
          <a:prstGeom prst="rect">
            <a:avLst/>
          </a:prstGeom>
          <a:solidFill>
            <a:srgbClr val="2F9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3739896"/>
            <a:ext cx="3749039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2F9E44"/>
                </a:solidFill>
                <a:latin typeface="Consolas"/>
              </a:rPr>
              <a:t>praise()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00600" y="3739896"/>
            <a:ext cx="45720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12163A"/>
                </a:solidFill>
                <a:latin typeface="Arial"/>
              </a:rPr>
              <a:t>Хвалит ученика, когда он что-то сделал или решил.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55480" y="3739896"/>
            <a:ext cx="17678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500" b="1">
                <a:solidFill>
                  <a:srgbClr val="5B618A"/>
                </a:solidFill>
                <a:latin typeface="Arial"/>
              </a:rPr>
              <a:t>Ученик 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764024"/>
            <a:ext cx="108204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5800" y="4992624"/>
            <a:ext cx="64008" cy="457200"/>
          </a:xfrm>
          <a:prstGeom prst="rect">
            <a:avLst/>
          </a:prstGeom>
          <a:solidFill>
            <a:srgbClr val="2F9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4764024"/>
            <a:ext cx="3749039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2F9E44"/>
                </a:solidFill>
                <a:latin typeface="Consolas"/>
              </a:rPr>
              <a:t>subject_rule(subject)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00600" y="4764024"/>
            <a:ext cx="45720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12163A"/>
                </a:solidFill>
                <a:latin typeface="Arial"/>
              </a:rPr>
              <a:t>Напоминает одно главное правило по школьному предмету.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55480" y="4764024"/>
            <a:ext cx="17678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500" b="1">
                <a:solidFill>
                  <a:srgbClr val="5B618A"/>
                </a:solidFill>
                <a:latin typeface="Arial"/>
              </a:rPr>
              <a:t>Ученик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F9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2F9E44"/>
                </a:solidFill>
                <a:latin typeface="Arial"/>
              </a:rPr>
              <a:t>КАК ЭТО РАБОТАЕТ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7724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>
                <a:solidFill>
                  <a:srgbClr val="12163A"/>
                </a:solidFill>
                <a:latin typeface="Arial"/>
              </a:rPr>
              <a:t>Пример разговора с ботом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400" y="63550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200" b="0">
                <a:solidFill>
                  <a:srgbClr val="5B618A"/>
                </a:solidFill>
                <a:latin typeface="Arial"/>
              </a:rPr>
              <a:t>4 / 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79116" y="1737360"/>
            <a:ext cx="3741724" cy="457200"/>
          </a:xfrm>
          <a:prstGeom prst="roundRect">
            <a:avLst/>
          </a:prstGeom>
          <a:solidFill>
            <a:srgbClr val="2F9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61996" y="1737360"/>
            <a:ext cx="337596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Arial"/>
              </a:rPr>
              <a:t>Как по-английски «спасибо»?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286000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5B618A"/>
                </a:solidFill>
                <a:latin typeface="Arial"/>
              </a:rPr>
              <a:t>🔧 вызов инструмента: </a:t>
            </a:r>
            <a:r>
              <a:rPr sz="1200" b="1">
                <a:solidFill>
                  <a:srgbClr val="5B618A"/>
                </a:solidFill>
                <a:latin typeface="Consolas"/>
              </a:rPr>
              <a:t>translate(спасибо)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06040"/>
            <a:ext cx="5129784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606040"/>
            <a:ext cx="4672584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2163A"/>
                </a:solidFill>
                <a:latin typeface="Arial"/>
              </a:rPr>
              <a:t>Thank you! Запиши на стикер и повесь над столом — запомнится за день 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79116" y="3566160"/>
            <a:ext cx="3741724" cy="457200"/>
          </a:xfrm>
          <a:prstGeom prst="roundRect">
            <a:avLst/>
          </a:prstGeom>
          <a:solidFill>
            <a:srgbClr val="2F9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61996" y="3566160"/>
            <a:ext cx="337596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Arial"/>
              </a:rPr>
              <a:t>Напомни правило по русскому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114800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5B618A"/>
                </a:solidFill>
                <a:latin typeface="Arial"/>
              </a:rPr>
              <a:t>🔧 вызов инструмента: </a:t>
            </a:r>
            <a:r>
              <a:rPr sz="1200" b="1">
                <a:solidFill>
                  <a:srgbClr val="5B618A"/>
                </a:solidFill>
                <a:latin typeface="Consolas"/>
              </a:rPr>
              <a:t>subject_rule(русский)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434840"/>
            <a:ext cx="5129784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434840"/>
            <a:ext cx="4672584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2163A"/>
                </a:solidFill>
                <a:latin typeface="Arial"/>
              </a:rPr>
              <a:t>ЖИ-ШИ пиши с буквой И, ЧА-ЩА — с буквой А. Ты справишься!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394960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5B618A"/>
                </a:solidFill>
                <a:latin typeface="Arial"/>
              </a:rPr>
              <a:t>Ответы бота в примере условные: каждый раз нейросеть формулирует по-своему, а данные берёт из инструментов.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086600" y="1737360"/>
            <a:ext cx="4419600" cy="3840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086600" y="1965960"/>
            <a:ext cx="64008" cy="3383280"/>
          </a:xfrm>
          <a:prstGeom prst="rect">
            <a:avLst/>
          </a:prstGeom>
          <a:solidFill>
            <a:srgbClr val="2F9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06640" y="1965960"/>
            <a:ext cx="3870960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2F9E44"/>
                </a:solidFill>
                <a:latin typeface="Arial"/>
              </a:rPr>
              <a:t>Что доделали после занятия</a:t>
            </a:r>
          </a:p>
          <a:p>
            <a:pPr algn="l">
              <a:lnSpc>
                <a:spcPct val="110000"/>
              </a:lnSpc>
              <a:spcBef>
                <a:spcPts val="800"/>
              </a:spcBef>
            </a:pPr>
            <a:r>
              <a:rPr sz="1500" b="1">
                <a:solidFill>
                  <a:srgbClr val="12163A"/>
                </a:solidFill>
                <a:latin typeface="Arial"/>
              </a:rPr>
              <a:t>Ученик 3: </a:t>
            </a:r>
            <a:r>
              <a:rPr sz="1500" b="0">
                <a:solidFill>
                  <a:srgbClr val="12163A"/>
                </a:solidFill>
                <a:latin typeface="Arial"/>
              </a:rPr>
              <a:t>make_tool для translate был собран из лишних аргументов — Python не мог прочитать файл (строка 38)</a:t>
            </a:r>
          </a:p>
          <a:p>
            <a:pPr algn="l">
              <a:lnSpc>
                <a:spcPct val="110000"/>
              </a:lnSpc>
              <a:spcBef>
                <a:spcPts val="800"/>
              </a:spcBef>
            </a:pPr>
            <a:r>
              <a:rPr sz="1500" b="1">
                <a:solidFill>
                  <a:srgbClr val="12163A"/>
                </a:solidFill>
                <a:latin typeface="Arial"/>
              </a:rPr>
              <a:t>Ученик 4: </a:t>
            </a:r>
            <a:r>
              <a:rPr sz="1500" b="0">
                <a:solidFill>
                  <a:srgbClr val="12163A"/>
                </a:solidFill>
                <a:latin typeface="Arial"/>
              </a:rPr>
              <a:t>Файл почти не начат: были только пропуски ___</a:t>
            </a:r>
          </a:p>
          <a:p>
            <a:pPr algn="l">
              <a:lnSpc>
                <a:spcPct val="110000"/>
              </a:lnSpc>
              <a:spcBef>
                <a:spcPts val="800"/>
              </a:spcBef>
            </a:pPr>
            <a:r>
              <a:rPr sz="1200" b="0">
                <a:solidFill>
                  <a:srgbClr val="5B618A"/>
                </a:solidFill>
                <a:latin typeface="Arial"/>
              </a:rPr>
              <a:t>Всего исправлений: 6. Подробно — в ИСПРАВЛЕНИЯ.md</a:t>
            </a:r>
          </a:p>
          <a:p>
            <a:pPr algn="l">
              <a:lnSpc>
                <a:spcPct val="110000"/>
              </a:lnSpc>
              <a:spcBef>
                <a:spcPts val="800"/>
              </a:spcBef>
            </a:pPr>
            <a:r>
              <a:rPr sz="1300" b="1">
                <a:solidFill>
                  <a:srgbClr val="12163A"/>
                </a:solidFill>
                <a:latin typeface="Arial"/>
              </a:rPr>
              <a:t>Запуск: </a:t>
            </a:r>
            <a:r>
              <a:rPr sz="1300" b="0">
                <a:solidFill>
                  <a:srgbClr val="12163A"/>
                </a:solidFill>
                <a:latin typeface="Consolas"/>
              </a:rPr>
              <a:t>python3 Наш_бот.py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